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996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" Type="http://schemas.openxmlformats.org/officeDocument/2006/relationships/image" Target="../media/image30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30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3" Type="http://schemas.openxmlformats.org/officeDocument/2006/relationships/image" Target="../media/image30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19" Type="http://schemas.openxmlformats.org/officeDocument/2006/relationships/image" Target="../media/image88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18" Type="http://schemas.openxmlformats.org/officeDocument/2006/relationships/image" Target="../media/image104.png"/><Relationship Id="rId3" Type="http://schemas.openxmlformats.org/officeDocument/2006/relationships/image" Target="../media/image30.png"/><Relationship Id="rId21" Type="http://schemas.openxmlformats.org/officeDocument/2006/relationships/image" Target="../media/image107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2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19" Type="http://schemas.openxmlformats.org/officeDocument/2006/relationships/image" Target="../media/image105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Relationship Id="rId22" Type="http://schemas.openxmlformats.org/officeDocument/2006/relationships/image" Target="../media/image10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18" Type="http://schemas.openxmlformats.org/officeDocument/2006/relationships/image" Target="../media/image123.png"/><Relationship Id="rId3" Type="http://schemas.openxmlformats.org/officeDocument/2006/relationships/image" Target="../media/image30.png"/><Relationship Id="rId21" Type="http://schemas.openxmlformats.org/officeDocument/2006/relationships/image" Target="../media/image126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5" Type="http://schemas.openxmlformats.org/officeDocument/2006/relationships/image" Target="../media/image13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1.png"/><Relationship Id="rId20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24" Type="http://schemas.openxmlformats.org/officeDocument/2006/relationships/image" Target="../media/image129.png"/><Relationship Id="rId5" Type="http://schemas.openxmlformats.org/officeDocument/2006/relationships/image" Target="../media/image110.png"/><Relationship Id="rId15" Type="http://schemas.openxmlformats.org/officeDocument/2006/relationships/image" Target="../media/image120.png"/><Relationship Id="rId23" Type="http://schemas.openxmlformats.org/officeDocument/2006/relationships/image" Target="../media/image128.png"/><Relationship Id="rId10" Type="http://schemas.openxmlformats.org/officeDocument/2006/relationships/image" Target="../media/image115.png"/><Relationship Id="rId19" Type="http://schemas.openxmlformats.org/officeDocument/2006/relationships/image" Target="../media/image124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Relationship Id="rId22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714" y="1181264"/>
            <a:ext cx="1104572" cy="11045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017" y="4296673"/>
            <a:ext cx="2243967" cy="51255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9449" y="1695450"/>
            <a:ext cx="38100" cy="1219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3901" y="5105400"/>
            <a:ext cx="18288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7200" y="1600200"/>
            <a:ext cx="3657600" cy="3657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5600" y="2286000"/>
            <a:ext cx="2438400" cy="2438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0" y="2095500"/>
            <a:ext cx="3048000" cy="3048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91200" y="609600"/>
            <a:ext cx="60960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53125" y="742950"/>
            <a:ext cx="2857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38800" y="3886200"/>
            <a:ext cx="914400" cy="38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48350" y="6286500"/>
            <a:ext cx="114300" cy="114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38850" y="6286500"/>
            <a:ext cx="114300" cy="114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29350" y="6286500"/>
            <a:ext cx="114300" cy="1143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2438400" y="1943100"/>
            <a:ext cx="73152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B289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Lucid</a:t>
            </a:r>
            <a:endParaRPr lang="en-US" sz="4500" dirty="0"/>
          </a:p>
        </p:txBody>
      </p:sp>
      <p:sp>
        <p:nvSpPr>
          <p:cNvPr id="17" name="Text 1"/>
          <p:cNvSpPr/>
          <p:nvPr/>
        </p:nvSpPr>
        <p:spPr>
          <a:xfrm>
            <a:off x="2438400" y="2667000"/>
            <a:ext cx="73152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DBCA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Adaptive AI for Content Authenticity</a:t>
            </a:r>
            <a:endParaRPr lang="en-US" sz="3600" dirty="0"/>
          </a:p>
        </p:txBody>
      </p:sp>
      <p:sp>
        <p:nvSpPr>
          <p:cNvPr id="18" name="Text 2"/>
          <p:cNvSpPr/>
          <p:nvPr/>
        </p:nvSpPr>
        <p:spPr>
          <a:xfrm>
            <a:off x="1706880" y="4229100"/>
            <a:ext cx="8778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DBCAA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Lucid: cut through the noise</a:t>
            </a:r>
            <a:endParaRPr lang="en-US" sz="1800" dirty="0"/>
          </a:p>
        </p:txBody>
      </p:sp>
      <p:sp>
        <p:nvSpPr>
          <p:cNvPr id="19" name="Text 3"/>
          <p:cNvSpPr/>
          <p:nvPr/>
        </p:nvSpPr>
        <p:spPr>
          <a:xfrm>
            <a:off x="10776585" y="6438900"/>
            <a:ext cx="12115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B289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November 2025</a:t>
            </a:r>
            <a:endParaRPr lang="en-US" sz="1050" dirty="0"/>
          </a:p>
        </p:txBody>
      </p:sp>
      <p:sp>
        <p:nvSpPr>
          <p:cNvPr id="20" name="Text 4"/>
          <p:cNvSpPr/>
          <p:nvPr/>
        </p:nvSpPr>
        <p:spPr>
          <a:xfrm>
            <a:off x="170497" y="6438900"/>
            <a:ext cx="16116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B289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series Funding: $2K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19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857500"/>
            <a:ext cx="5181600" cy="2590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3147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886200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457700"/>
            <a:ext cx="1905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5029200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562100"/>
            <a:ext cx="5181600" cy="411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2247900"/>
            <a:ext cx="371475" cy="495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43700" y="2362200"/>
            <a:ext cx="14287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9400" y="3200400"/>
            <a:ext cx="400050" cy="49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43700" y="3314700"/>
            <a:ext cx="17145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9400" y="4152900"/>
            <a:ext cx="466725" cy="495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43700" y="4267200"/>
            <a:ext cx="238125" cy="2667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609600" y="609600"/>
            <a:ext cx="1316736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Digital Trust Crisis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609600" y="1562100"/>
            <a:ext cx="5181600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rapid proliferation of sophisticated AI-generated content has introduced a profound challenge to public trust, making it increasingly difficult to discern authenticity in the digital realm.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762000" y="2857500"/>
            <a:ext cx="6035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289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Scale of Deception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1028700" y="3276600"/>
            <a:ext cx="4762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Politics: </a:t>
            </a: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AI-generated content manipulating public opinion and spreading propaganda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990600" y="3848100"/>
            <a:ext cx="4800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historical destortion: r</a:t>
            </a: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eshapes the past to manipulate the present, turning facts into tools of deception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1066800" y="44196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Social Discourse: </a:t>
            </a: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Misinformation polarizing communities and eroding factual basis of public conversations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1047750" y="4991100"/>
            <a:ext cx="4743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Financial Fraud: </a:t>
            </a: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Deepfake audio and video used in sophisticated phishing scams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6629400" y="1790700"/>
            <a:ext cx="5669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289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25" name="Text 8"/>
          <p:cNvSpPr/>
          <p:nvPr/>
        </p:nvSpPr>
        <p:spPr>
          <a:xfrm>
            <a:off x="7153275" y="2247900"/>
            <a:ext cx="42005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Slowness</a:t>
            </a:r>
            <a:endParaRPr lang="en-US" sz="1350" dirty="0"/>
          </a:p>
        </p:txBody>
      </p:sp>
      <p:sp>
        <p:nvSpPr>
          <p:cNvPr id="26" name="Text 9"/>
          <p:cNvSpPr/>
          <p:nvPr/>
        </p:nvSpPr>
        <p:spPr>
          <a:xfrm>
            <a:off x="7153275" y="2514600"/>
            <a:ext cx="42005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Traditional fact-checking processes are too slow for rapid news cycles and social media platforms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7181850" y="3200400"/>
            <a:ext cx="50063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Expertise Requirement</a:t>
            </a:r>
            <a:endParaRPr lang="en-US" sz="1350" dirty="0"/>
          </a:p>
        </p:txBody>
      </p:sp>
      <p:sp>
        <p:nvSpPr>
          <p:cNvPr id="28" name="Text 11"/>
          <p:cNvSpPr/>
          <p:nvPr/>
        </p:nvSpPr>
        <p:spPr>
          <a:xfrm>
            <a:off x="7181850" y="3467100"/>
            <a:ext cx="4171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Advanced verification techniques demand specialized expertise inaccessible to average users</a:t>
            </a:r>
            <a:endParaRPr lang="en-US" sz="1200" dirty="0"/>
          </a:p>
        </p:txBody>
      </p:sp>
      <p:sp>
        <p:nvSpPr>
          <p:cNvPr id="29" name="Text 12"/>
          <p:cNvSpPr/>
          <p:nvPr/>
        </p:nvSpPr>
        <p:spPr>
          <a:xfrm>
            <a:off x="7248525" y="4152900"/>
            <a:ext cx="41052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Technological Lag</a:t>
            </a:r>
            <a:endParaRPr lang="en-US" sz="1350" dirty="0"/>
          </a:p>
        </p:txBody>
      </p:sp>
      <p:sp>
        <p:nvSpPr>
          <p:cNvPr id="30" name="Text 13"/>
          <p:cNvSpPr/>
          <p:nvPr/>
        </p:nvSpPr>
        <p:spPr>
          <a:xfrm>
            <a:off x="7248525" y="4419600"/>
            <a:ext cx="41052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Current tools struggle to keep up with rapid advancements in AI generation techniques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255341"/>
            <a:ext cx="3588097" cy="399305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483941"/>
            <a:ext cx="457200" cy="45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2560141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546735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58102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6297" y="2788741"/>
            <a:ext cx="3501777" cy="165362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6797" y="2979241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9672" y="3055441"/>
            <a:ext cx="1714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0474" y="2788741"/>
            <a:ext cx="3501926" cy="1653629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70974" y="2979241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5274" y="3055441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26297" y="4594771"/>
            <a:ext cx="3501777" cy="165362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16797" y="4785271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02522" y="4861471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80474" y="4594771"/>
            <a:ext cx="3501926" cy="1653629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70974" y="4785271"/>
            <a:ext cx="4572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5274" y="4861471"/>
            <a:ext cx="228600" cy="3048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609600"/>
            <a:ext cx="1097280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DBCA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Solution: </a:t>
            </a:r>
            <a:r>
              <a:rPr lang="en-US" sz="3600" b="1" dirty="0">
                <a:solidFill>
                  <a:srgbClr val="B289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Lucid</a:t>
            </a:r>
            <a:endParaRPr lang="en-US" sz="3600" dirty="0"/>
          </a:p>
        </p:txBody>
      </p:sp>
      <p:sp>
        <p:nvSpPr>
          <p:cNvPr id="21" name="Text 1"/>
          <p:cNvSpPr/>
          <p:nvPr/>
        </p:nvSpPr>
        <p:spPr>
          <a:xfrm>
            <a:off x="609600" y="1310580"/>
            <a:ext cx="8534400" cy="6399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DBCAA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personalized AI shield offering instant verification, adaptive intelligence, and professional-grade simplicity.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1447800" y="2560141"/>
            <a:ext cx="258246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Proposition</a:t>
            </a:r>
            <a:endParaRPr lang="en-US" sz="1800" dirty="0"/>
          </a:p>
        </p:txBody>
      </p:sp>
      <p:sp>
        <p:nvSpPr>
          <p:cNvPr id="23" name="Text 3"/>
          <p:cNvSpPr/>
          <p:nvPr/>
        </p:nvSpPr>
        <p:spPr>
          <a:xfrm>
            <a:off x="838200" y="3169741"/>
            <a:ext cx="3130897" cy="928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15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Empowering anyone to instantly verify digital content with unprecedented accuracy.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1066800" y="5410200"/>
            <a:ext cx="32307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technical expertise required</a:t>
            </a:r>
            <a:endParaRPr lang="en-US" sz="1350" dirty="0"/>
          </a:p>
        </p:txBody>
      </p:sp>
      <p:sp>
        <p:nvSpPr>
          <p:cNvPr id="25" name="Text 5"/>
          <p:cNvSpPr/>
          <p:nvPr/>
        </p:nvSpPr>
        <p:spPr>
          <a:xfrm>
            <a:off x="1066800" y="5753100"/>
            <a:ext cx="324004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Adaptive to your specific needs</a:t>
            </a:r>
            <a:endParaRPr lang="en-US" sz="1350" dirty="0"/>
          </a:p>
        </p:txBody>
      </p:sp>
      <p:sp>
        <p:nvSpPr>
          <p:cNvPr id="26" name="Text 6"/>
          <p:cNvSpPr/>
          <p:nvPr/>
        </p:nvSpPr>
        <p:spPr>
          <a:xfrm>
            <a:off x="4426297" y="2255341"/>
            <a:ext cx="715610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Capabilities</a:t>
            </a:r>
            <a:endParaRPr lang="en-US" sz="1800" dirty="0"/>
          </a:p>
        </p:txBody>
      </p:sp>
      <p:sp>
        <p:nvSpPr>
          <p:cNvPr id="27" name="Text 7"/>
          <p:cNvSpPr/>
          <p:nvPr/>
        </p:nvSpPr>
        <p:spPr>
          <a:xfrm>
            <a:off x="5226397" y="3074491"/>
            <a:ext cx="24762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Instant Verification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4616797" y="3588841"/>
            <a:ext cx="312077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Rapid analysis of text, images, and audio with clear authenticity scores.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8880574" y="3074491"/>
            <a:ext cx="27489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Adaptive Intelligence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8270974" y="3588841"/>
            <a:ext cx="312092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Learn from your trusted data to detect domain-specific misinformation.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5226397" y="4880521"/>
            <a:ext cx="246298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Professional-Grade</a:t>
            </a:r>
            <a:endParaRPr lang="en-US" sz="1500" dirty="0"/>
          </a:p>
        </p:txBody>
      </p:sp>
      <p:sp>
        <p:nvSpPr>
          <p:cNvPr id="32" name="Text 12"/>
          <p:cNvSpPr/>
          <p:nvPr/>
        </p:nvSpPr>
        <p:spPr>
          <a:xfrm>
            <a:off x="4616797" y="5394871"/>
            <a:ext cx="312077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Access advanced verification tools with simple, intuitive interface.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8880574" y="4880521"/>
            <a:ext cx="278284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Multi-Format Support</a:t>
            </a:r>
            <a:endParaRPr lang="en-US" sz="1500" dirty="0"/>
          </a:p>
        </p:txBody>
      </p:sp>
      <p:sp>
        <p:nvSpPr>
          <p:cNvPr id="34" name="Text 14"/>
          <p:cNvSpPr/>
          <p:nvPr/>
        </p:nvSpPr>
        <p:spPr>
          <a:xfrm>
            <a:off x="8270974" y="5394871"/>
            <a:ext cx="312092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Analyze various content types with a single, unified platform.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54361"/>
            <a:ext cx="2438400" cy="1181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3550" y="1554361"/>
            <a:ext cx="2438400" cy="1714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3213" y="2811661"/>
            <a:ext cx="219075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9901" y="1554361"/>
            <a:ext cx="2438400" cy="1524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6226" y="2621161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6251" y="1554361"/>
            <a:ext cx="2438400" cy="1714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72576" y="2811661"/>
            <a:ext cx="2857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52700" y="2030611"/>
            <a:ext cx="1143000" cy="19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9700" y="2030611"/>
            <a:ext cx="1143000" cy="19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86700" y="2030611"/>
            <a:ext cx="1143000" cy="190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3421261"/>
            <a:ext cx="11277600" cy="2133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278511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583311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888111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0" y="3573661"/>
            <a:ext cx="1828800" cy="1828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29600" y="3802261"/>
            <a:ext cx="1371600" cy="1371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2000" y="3954661"/>
            <a:ext cx="1066800" cy="1066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43950" y="4297561"/>
            <a:ext cx="342900" cy="3810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457200"/>
            <a:ext cx="1353312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DBCA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Works: The Lucid Difference</a:t>
            </a: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457200" y="1081980"/>
            <a:ext cx="10241280" cy="319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DBCAA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Four-step process turning expertise into AI power through personalized training.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663327" y="1668661"/>
            <a:ext cx="4114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3"/>
          <p:cNvSpPr/>
          <p:nvPr/>
        </p:nvSpPr>
        <p:spPr>
          <a:xfrm>
            <a:off x="1028700" y="1706761"/>
            <a:ext cx="13330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Paste Text</a:t>
            </a:r>
            <a:endParaRPr lang="en-US" sz="1500" dirty="0"/>
          </a:p>
        </p:txBody>
      </p:sp>
      <p:sp>
        <p:nvSpPr>
          <p:cNvPr id="25" name="Text 4"/>
          <p:cNvSpPr/>
          <p:nvPr/>
        </p:nvSpPr>
        <p:spPr>
          <a:xfrm>
            <a:off x="571500" y="2087761"/>
            <a:ext cx="2209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Input suspicious text into Lucid platform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3576042" y="1763911"/>
            <a:ext cx="33075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6"/>
          <p:cNvSpPr/>
          <p:nvPr/>
        </p:nvSpPr>
        <p:spPr>
          <a:xfrm>
            <a:off x="3907780" y="1668661"/>
            <a:ext cx="181987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Instant Classification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3517850" y="2278261"/>
            <a:ext cx="2209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model processes and provides initial verdict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6556028" y="1668661"/>
            <a:ext cx="4114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9"/>
          <p:cNvSpPr/>
          <p:nvPr/>
        </p:nvSpPr>
        <p:spPr>
          <a:xfrm>
            <a:off x="6921401" y="1706761"/>
            <a:ext cx="19000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Upload &amp; Train</a:t>
            </a:r>
            <a:endParaRPr lang="en-US" sz="1500" dirty="0"/>
          </a:p>
        </p:txBody>
      </p:sp>
      <p:sp>
        <p:nvSpPr>
          <p:cNvPr id="31" name="Text 10"/>
          <p:cNvSpPr/>
          <p:nvPr/>
        </p:nvSpPr>
        <p:spPr>
          <a:xfrm>
            <a:off x="6464201" y="2087761"/>
            <a:ext cx="2209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Option to upload labeled datasets to train AI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9461302" y="1763911"/>
            <a:ext cx="31289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12"/>
          <p:cNvSpPr/>
          <p:nvPr/>
        </p:nvSpPr>
        <p:spPr>
          <a:xfrm>
            <a:off x="9785598" y="1668661"/>
            <a:ext cx="1834753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Personalized Accuracy</a:t>
            </a:r>
            <a:endParaRPr lang="en-US" sz="1500" dirty="0"/>
          </a:p>
        </p:txBody>
      </p:sp>
      <p:sp>
        <p:nvSpPr>
          <p:cNvPr id="34" name="Text 13"/>
          <p:cNvSpPr/>
          <p:nvPr/>
        </p:nvSpPr>
        <p:spPr>
          <a:xfrm>
            <a:off x="9410551" y="2278261"/>
            <a:ext cx="2209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Receive domain-specific detection capabilities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609600" y="3897511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Lucid Difference</a:t>
            </a:r>
            <a:endParaRPr lang="en-US" sz="1500" dirty="0"/>
          </a:p>
        </p:txBody>
      </p:sp>
      <p:sp>
        <p:nvSpPr>
          <p:cNvPr id="36" name="Text 15"/>
          <p:cNvSpPr/>
          <p:nvPr/>
        </p:nvSpPr>
        <p:spPr>
          <a:xfrm>
            <a:off x="838200" y="4240411"/>
            <a:ext cx="52924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289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Adaptive Intelligence: </a:t>
            </a: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Learn from your specific domain</a:t>
            </a:r>
            <a:endParaRPr lang="en-US" sz="1200" dirty="0"/>
          </a:p>
        </p:txBody>
      </p:sp>
      <p:sp>
        <p:nvSpPr>
          <p:cNvPr id="37" name="Text 16"/>
          <p:cNvSpPr/>
          <p:nvPr/>
        </p:nvSpPr>
        <p:spPr>
          <a:xfrm>
            <a:off x="838200" y="4545211"/>
            <a:ext cx="445091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289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User-Driven: </a:t>
            </a: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Transform expertise into AI power</a:t>
            </a:r>
            <a:endParaRPr lang="en-US" sz="1200" dirty="0"/>
          </a:p>
        </p:txBody>
      </p:sp>
      <p:sp>
        <p:nvSpPr>
          <p:cNvPr id="38" name="Text 17"/>
          <p:cNvSpPr/>
          <p:nvPr/>
        </p:nvSpPr>
        <p:spPr>
          <a:xfrm>
            <a:off x="838200" y="4850011"/>
            <a:ext cx="49379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289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Continuous Learning: </a:t>
            </a: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improves with training</a:t>
            </a:r>
            <a:endParaRPr lang="en-US" sz="1200" dirty="0"/>
          </a:p>
        </p:txBody>
      </p:sp>
      <p:sp>
        <p:nvSpPr>
          <p:cNvPr id="39" name="Text 18"/>
          <p:cNvSpPr/>
          <p:nvPr/>
        </p:nvSpPr>
        <p:spPr>
          <a:xfrm>
            <a:off x="8458200" y="3268861"/>
            <a:ext cx="9144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15-20%</a:t>
            </a:r>
            <a:endParaRPr lang="en-US" sz="1800" dirty="0"/>
          </a:p>
        </p:txBody>
      </p:sp>
      <p:sp>
        <p:nvSpPr>
          <p:cNvPr id="40" name="Text 19"/>
          <p:cNvSpPr/>
          <p:nvPr/>
        </p:nvSpPr>
        <p:spPr>
          <a:xfrm>
            <a:off x="8458200" y="3878461"/>
            <a:ext cx="914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Accuracy Improvement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88641"/>
            <a:ext cx="5410200" cy="441215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2880271"/>
            <a:ext cx="5029200" cy="2438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2445841"/>
            <a:ext cx="5410200" cy="1066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598241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1300" y="2674441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3665041"/>
            <a:ext cx="5410200" cy="1066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3817441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1300" y="3893641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4884241"/>
            <a:ext cx="5410200" cy="1066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5036641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9875" y="5112841"/>
            <a:ext cx="171450" cy="3048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457200" y="457200"/>
            <a:ext cx="1353312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DBCA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Opportunity: </a:t>
            </a:r>
            <a:r>
              <a:rPr lang="en-US" sz="3600" b="1" dirty="0">
                <a:solidFill>
                  <a:srgbClr val="B289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$10.4B </a:t>
            </a:r>
            <a:r>
              <a:rPr lang="en-US" sz="3600" b="1" dirty="0">
                <a:solidFill>
                  <a:srgbClr val="DBCA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2033</a:t>
            </a:r>
            <a:endParaRPr lang="en-US" sz="3600" dirty="0"/>
          </a:p>
        </p:txBody>
      </p:sp>
      <p:sp>
        <p:nvSpPr>
          <p:cNvPr id="15" name="Text 1"/>
          <p:cNvSpPr/>
          <p:nvPr/>
        </p:nvSpPr>
        <p:spPr>
          <a:xfrm>
            <a:off x="457200" y="1120080"/>
            <a:ext cx="8534400" cy="6399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DBCAA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Growing at 21.7% CAGR , the content authenticity market addresses critical needs across journalism, research, and enterprise sectors.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647700" y="2179141"/>
            <a:ext cx="6035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Growth Trajectory</a:t>
            </a:r>
            <a:endParaRPr lang="en-US" sz="1800" dirty="0"/>
          </a:p>
        </p:txBody>
      </p:sp>
      <p:sp>
        <p:nvSpPr>
          <p:cNvPr id="17" name="Text 3"/>
          <p:cNvSpPr/>
          <p:nvPr/>
        </p:nvSpPr>
        <p:spPr>
          <a:xfrm>
            <a:off x="522818" y="5676900"/>
            <a:ext cx="14985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B289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$1.8B</a:t>
            </a:r>
            <a:endParaRPr lang="en-US" sz="2250" dirty="0"/>
          </a:p>
        </p:txBody>
      </p:sp>
      <p:sp>
        <p:nvSpPr>
          <p:cNvPr id="18" name="Text 4"/>
          <p:cNvSpPr/>
          <p:nvPr/>
        </p:nvSpPr>
        <p:spPr>
          <a:xfrm>
            <a:off x="522818" y="6019800"/>
            <a:ext cx="14985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2024 Market Value</a:t>
            </a:r>
            <a:endParaRPr lang="en-US" sz="1050" dirty="0"/>
          </a:p>
        </p:txBody>
      </p:sp>
      <p:sp>
        <p:nvSpPr>
          <p:cNvPr id="19" name="Text 5"/>
          <p:cNvSpPr/>
          <p:nvPr/>
        </p:nvSpPr>
        <p:spPr>
          <a:xfrm>
            <a:off x="2630969" y="5676900"/>
            <a:ext cx="118961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21.7%</a:t>
            </a:r>
            <a:endParaRPr lang="en-US" sz="2250" dirty="0"/>
          </a:p>
        </p:txBody>
      </p:sp>
      <p:sp>
        <p:nvSpPr>
          <p:cNvPr id="20" name="Text 6"/>
          <p:cNvSpPr/>
          <p:nvPr/>
        </p:nvSpPr>
        <p:spPr>
          <a:xfrm>
            <a:off x="2730103" y="6019800"/>
            <a:ext cx="99134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CAGR</a:t>
            </a:r>
            <a:endParaRPr lang="en-US" sz="1050" dirty="0"/>
          </a:p>
        </p:txBody>
      </p:sp>
      <p:sp>
        <p:nvSpPr>
          <p:cNvPr id="21" name="Text 7"/>
          <p:cNvSpPr/>
          <p:nvPr/>
        </p:nvSpPr>
        <p:spPr>
          <a:xfrm>
            <a:off x="4442862" y="5676900"/>
            <a:ext cx="134606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B289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$10.4B</a:t>
            </a:r>
            <a:endParaRPr lang="en-US" sz="2250" dirty="0"/>
          </a:p>
        </p:txBody>
      </p:sp>
      <p:sp>
        <p:nvSpPr>
          <p:cNvPr id="22" name="Text 8"/>
          <p:cNvSpPr/>
          <p:nvPr/>
        </p:nvSpPr>
        <p:spPr>
          <a:xfrm>
            <a:off x="4442862" y="6019800"/>
            <a:ext cx="13460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2033 Projection</a:t>
            </a:r>
            <a:endParaRPr lang="en-US" sz="1050" dirty="0"/>
          </a:p>
        </p:txBody>
      </p:sp>
      <p:sp>
        <p:nvSpPr>
          <p:cNvPr id="23" name="Text 9"/>
          <p:cNvSpPr/>
          <p:nvPr/>
        </p:nvSpPr>
        <p:spPr>
          <a:xfrm>
            <a:off x="6324600" y="1988641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Target Segments</a:t>
            </a:r>
            <a:endParaRPr lang="en-US" sz="1800" dirty="0"/>
          </a:p>
        </p:txBody>
      </p:sp>
      <p:sp>
        <p:nvSpPr>
          <p:cNvPr id="24" name="Text 10"/>
          <p:cNvSpPr/>
          <p:nvPr/>
        </p:nvSpPr>
        <p:spPr>
          <a:xfrm>
            <a:off x="7048500" y="2598241"/>
            <a:ext cx="54406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Journalism &amp; Newsrooms</a:t>
            </a:r>
            <a:endParaRPr lang="en-US" sz="1500" dirty="0"/>
          </a:p>
        </p:txBody>
      </p:sp>
      <p:sp>
        <p:nvSpPr>
          <p:cNvPr id="25" name="Text 11"/>
          <p:cNvSpPr/>
          <p:nvPr/>
        </p:nvSpPr>
        <p:spPr>
          <a:xfrm>
            <a:off x="7048500" y="2903041"/>
            <a:ext cx="4533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Organizations needing rapid verification tools to combat misinformation</a:t>
            </a:r>
            <a:endParaRPr lang="en-US" sz="1200" dirty="0"/>
          </a:p>
        </p:txBody>
      </p:sp>
      <p:sp>
        <p:nvSpPr>
          <p:cNvPr id="26" name="Text 12"/>
          <p:cNvSpPr/>
          <p:nvPr/>
        </p:nvSpPr>
        <p:spPr>
          <a:xfrm>
            <a:off x="7048500" y="3817441"/>
            <a:ext cx="54406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Researchers &amp; Academia</a:t>
            </a:r>
            <a:endParaRPr lang="en-US" sz="1500" dirty="0"/>
          </a:p>
        </p:txBody>
      </p:sp>
      <p:sp>
        <p:nvSpPr>
          <p:cNvPr id="27" name="Text 13"/>
          <p:cNvSpPr/>
          <p:nvPr/>
        </p:nvSpPr>
        <p:spPr>
          <a:xfrm>
            <a:off x="7048500" y="4122241"/>
            <a:ext cx="4533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Need tools for analyzing misinformation trends and authenticity</a:t>
            </a:r>
            <a:endParaRPr lang="en-US" sz="1200" dirty="0"/>
          </a:p>
        </p:txBody>
      </p:sp>
      <p:sp>
        <p:nvSpPr>
          <p:cNvPr id="28" name="Text 14"/>
          <p:cNvSpPr/>
          <p:nvPr/>
        </p:nvSpPr>
        <p:spPr>
          <a:xfrm>
            <a:off x="7048500" y="5036641"/>
            <a:ext cx="4533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Enterprises &amp; NGOs</a:t>
            </a:r>
            <a:endParaRPr lang="en-US" sz="1500" dirty="0"/>
          </a:p>
        </p:txBody>
      </p:sp>
      <p:sp>
        <p:nvSpPr>
          <p:cNvPr id="29" name="Text 15"/>
          <p:cNvSpPr/>
          <p:nvPr/>
        </p:nvSpPr>
        <p:spPr>
          <a:xfrm>
            <a:off x="7048500" y="5341441"/>
            <a:ext cx="4533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Businesses needing to protect reputation and ensure content authenticity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668661"/>
            <a:ext cx="11125200" cy="4000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897261"/>
            <a:ext cx="2667000" cy="571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897261"/>
            <a:ext cx="26670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3300" y="2011561"/>
            <a:ext cx="34290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8550" y="2106811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1897261"/>
            <a:ext cx="26670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2011561"/>
            <a:ext cx="34290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5550" y="2106811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0" y="1897261"/>
            <a:ext cx="26670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7300" y="2011561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72550" y="2106811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2468761"/>
            <a:ext cx="2667000" cy="838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9000" y="2468761"/>
            <a:ext cx="2667000" cy="838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0" y="2468761"/>
            <a:ext cx="2667000" cy="838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63000" y="2468761"/>
            <a:ext cx="2667000" cy="838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3306961"/>
            <a:ext cx="2667000" cy="838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9000" y="3306961"/>
            <a:ext cx="2667000" cy="838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0" y="3306961"/>
            <a:ext cx="2667000" cy="838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63000" y="3306961"/>
            <a:ext cx="2667000" cy="838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4145161"/>
            <a:ext cx="2667000" cy="647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29000" y="4145161"/>
            <a:ext cx="2667000" cy="647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0" y="4145161"/>
            <a:ext cx="2667000" cy="647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63000" y="4145161"/>
            <a:ext cx="2667000" cy="647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29000" y="4792861"/>
            <a:ext cx="2667000" cy="647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0" y="4792861"/>
            <a:ext cx="2667000" cy="647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3000" y="4792861"/>
            <a:ext cx="2667000" cy="6477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533400" y="533400"/>
            <a:ext cx="1335024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DBCA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Advantage: </a:t>
            </a:r>
            <a:r>
              <a:rPr lang="en-US" sz="3600" b="1" dirty="0">
                <a:solidFill>
                  <a:srgbClr val="B289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We Win</a:t>
            </a:r>
            <a:endParaRPr lang="en-US" sz="3600" dirty="0"/>
          </a:p>
        </p:txBody>
      </p:sp>
      <p:sp>
        <p:nvSpPr>
          <p:cNvPr id="30" name="Text 1"/>
          <p:cNvSpPr/>
          <p:nvPr/>
        </p:nvSpPr>
        <p:spPr>
          <a:xfrm>
            <a:off x="533400" y="1196280"/>
            <a:ext cx="10241280" cy="319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DBCAA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Lucid stands apart by offering a unique blend of speed, accuracy, and adaptability.</a:t>
            </a:r>
            <a:endParaRPr lang="en-US" sz="1800" dirty="0"/>
          </a:p>
        </p:txBody>
      </p:sp>
      <p:sp>
        <p:nvSpPr>
          <p:cNvPr id="31" name="Text 2"/>
          <p:cNvSpPr/>
          <p:nvPr/>
        </p:nvSpPr>
        <p:spPr>
          <a:xfrm>
            <a:off x="876300" y="1897261"/>
            <a:ext cx="32004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BCA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/ Company</a:t>
            </a:r>
            <a:endParaRPr lang="en-US" sz="1200" dirty="0"/>
          </a:p>
        </p:txBody>
      </p:sp>
      <p:sp>
        <p:nvSpPr>
          <p:cNvPr id="32" name="Text 3"/>
          <p:cNvSpPr/>
          <p:nvPr/>
        </p:nvSpPr>
        <p:spPr>
          <a:xfrm>
            <a:off x="3981450" y="2011561"/>
            <a:ext cx="2438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BCA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Lucid</a:t>
            </a:r>
            <a:endParaRPr lang="en-US" sz="1200" dirty="0"/>
          </a:p>
        </p:txBody>
      </p:sp>
      <p:sp>
        <p:nvSpPr>
          <p:cNvPr id="33" name="Text 4"/>
          <p:cNvSpPr/>
          <p:nvPr/>
        </p:nvSpPr>
        <p:spPr>
          <a:xfrm>
            <a:off x="6648450" y="2011561"/>
            <a:ext cx="2438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BCA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Competitor A</a:t>
            </a:r>
            <a:endParaRPr lang="en-US" sz="1200" dirty="0"/>
          </a:p>
        </p:txBody>
      </p:sp>
      <p:sp>
        <p:nvSpPr>
          <p:cNvPr id="34" name="Text 5"/>
          <p:cNvSpPr/>
          <p:nvPr/>
        </p:nvSpPr>
        <p:spPr>
          <a:xfrm>
            <a:off x="9315450" y="2011561"/>
            <a:ext cx="2438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BCA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Competitor B</a:t>
            </a:r>
            <a:endParaRPr lang="en-US" sz="1200" dirty="0"/>
          </a:p>
        </p:txBody>
      </p:sp>
      <p:sp>
        <p:nvSpPr>
          <p:cNvPr id="35" name="Text 6"/>
          <p:cNvSpPr/>
          <p:nvPr/>
        </p:nvSpPr>
        <p:spPr>
          <a:xfrm>
            <a:off x="876300" y="2468761"/>
            <a:ext cx="32004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Dataset Upload</a:t>
            </a:r>
            <a:endParaRPr lang="en-US" sz="1200" dirty="0"/>
          </a:p>
        </p:txBody>
      </p:sp>
      <p:sp>
        <p:nvSpPr>
          <p:cNvPr id="36" name="Text 7"/>
          <p:cNvSpPr/>
          <p:nvPr/>
        </p:nvSpPr>
        <p:spPr>
          <a:xfrm>
            <a:off x="3543300" y="2583061"/>
            <a:ext cx="2438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289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Unique</a:t>
            </a:r>
            <a:endParaRPr lang="en-US" sz="1200" dirty="0"/>
          </a:p>
        </p:txBody>
      </p:sp>
      <p:sp>
        <p:nvSpPr>
          <p:cNvPr id="37" name="Text 8"/>
          <p:cNvSpPr/>
          <p:nvPr/>
        </p:nvSpPr>
        <p:spPr>
          <a:xfrm>
            <a:off x="3543300" y="2811661"/>
            <a:ext cx="2438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Empowers users to train AI with their own data</a:t>
            </a:r>
            <a:endParaRPr lang="en-US" sz="1050" dirty="0"/>
          </a:p>
        </p:txBody>
      </p:sp>
      <p:sp>
        <p:nvSpPr>
          <p:cNvPr id="38" name="Text 9"/>
          <p:cNvSpPr/>
          <p:nvPr/>
        </p:nvSpPr>
        <p:spPr>
          <a:xfrm>
            <a:off x="6210300" y="2583061"/>
            <a:ext cx="2438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</a:t>
            </a:r>
            <a:endParaRPr lang="en-US" sz="1200" dirty="0"/>
          </a:p>
        </p:txBody>
      </p:sp>
      <p:sp>
        <p:nvSpPr>
          <p:cNvPr id="39" name="Text 10"/>
          <p:cNvSpPr/>
          <p:nvPr/>
        </p:nvSpPr>
        <p:spPr>
          <a:xfrm>
            <a:off x="6210300" y="2811661"/>
            <a:ext cx="2926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Relies on generalized models</a:t>
            </a:r>
            <a:endParaRPr lang="en-US" sz="1050" dirty="0"/>
          </a:p>
        </p:txBody>
      </p:sp>
      <p:sp>
        <p:nvSpPr>
          <p:cNvPr id="40" name="Text 11"/>
          <p:cNvSpPr/>
          <p:nvPr/>
        </p:nvSpPr>
        <p:spPr>
          <a:xfrm>
            <a:off x="8877300" y="2583061"/>
            <a:ext cx="2438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Limited</a:t>
            </a:r>
            <a:endParaRPr lang="en-US" sz="1200" dirty="0"/>
          </a:p>
        </p:txBody>
      </p:sp>
      <p:sp>
        <p:nvSpPr>
          <p:cNvPr id="41" name="Text 12"/>
          <p:cNvSpPr/>
          <p:nvPr/>
        </p:nvSpPr>
        <p:spPr>
          <a:xfrm>
            <a:off x="8877300" y="2811661"/>
            <a:ext cx="2926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Requires technical expertise</a:t>
            </a:r>
            <a:endParaRPr lang="en-US" sz="1050" dirty="0"/>
          </a:p>
        </p:txBody>
      </p:sp>
      <p:sp>
        <p:nvSpPr>
          <p:cNvPr id="42" name="Text 13"/>
          <p:cNvSpPr/>
          <p:nvPr/>
        </p:nvSpPr>
        <p:spPr>
          <a:xfrm>
            <a:off x="876300" y="3306961"/>
            <a:ext cx="2667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Adaptability</a:t>
            </a:r>
            <a:endParaRPr lang="en-US" sz="1200" dirty="0"/>
          </a:p>
        </p:txBody>
      </p:sp>
      <p:sp>
        <p:nvSpPr>
          <p:cNvPr id="43" name="Text 14"/>
          <p:cNvSpPr/>
          <p:nvPr/>
        </p:nvSpPr>
        <p:spPr>
          <a:xfrm>
            <a:off x="3543300" y="3421261"/>
            <a:ext cx="2438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289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</a:t>
            </a:r>
            <a:endParaRPr lang="en-US" sz="1200" dirty="0"/>
          </a:p>
        </p:txBody>
      </p:sp>
      <p:sp>
        <p:nvSpPr>
          <p:cNvPr id="44" name="Text 15"/>
          <p:cNvSpPr/>
          <p:nvPr/>
        </p:nvSpPr>
        <p:spPr>
          <a:xfrm>
            <a:off x="3543300" y="3649861"/>
            <a:ext cx="2926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Continuously learns from new data</a:t>
            </a:r>
            <a:endParaRPr lang="en-US" sz="1050" dirty="0"/>
          </a:p>
        </p:txBody>
      </p:sp>
      <p:sp>
        <p:nvSpPr>
          <p:cNvPr id="45" name="Text 16"/>
          <p:cNvSpPr/>
          <p:nvPr/>
        </p:nvSpPr>
        <p:spPr>
          <a:xfrm>
            <a:off x="6210300" y="3421261"/>
            <a:ext cx="2438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</a:t>
            </a:r>
            <a:endParaRPr lang="en-US" sz="1200" dirty="0"/>
          </a:p>
        </p:txBody>
      </p:sp>
      <p:sp>
        <p:nvSpPr>
          <p:cNvPr id="46" name="Text 17"/>
          <p:cNvSpPr/>
          <p:nvPr/>
        </p:nvSpPr>
        <p:spPr>
          <a:xfrm>
            <a:off x="6210300" y="3649861"/>
            <a:ext cx="2438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Static models quickly become outdated</a:t>
            </a:r>
            <a:endParaRPr lang="en-US" sz="1050" dirty="0"/>
          </a:p>
        </p:txBody>
      </p:sp>
      <p:sp>
        <p:nvSpPr>
          <p:cNvPr id="47" name="Text 18"/>
          <p:cNvSpPr/>
          <p:nvPr/>
        </p:nvSpPr>
        <p:spPr>
          <a:xfrm>
            <a:off x="8877300" y="3421261"/>
            <a:ext cx="2438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Moderate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8877300" y="3649861"/>
            <a:ext cx="2926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Requires technical resources</a:t>
            </a:r>
            <a:endParaRPr lang="en-US" sz="1050" dirty="0"/>
          </a:p>
        </p:txBody>
      </p:sp>
      <p:sp>
        <p:nvSpPr>
          <p:cNvPr id="49" name="Text 20"/>
          <p:cNvSpPr/>
          <p:nvPr/>
        </p:nvSpPr>
        <p:spPr>
          <a:xfrm>
            <a:off x="876300" y="4145161"/>
            <a:ext cx="2667000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Speed</a:t>
            </a:r>
            <a:endParaRPr lang="en-US" sz="1200" dirty="0"/>
          </a:p>
        </p:txBody>
      </p:sp>
      <p:sp>
        <p:nvSpPr>
          <p:cNvPr id="50" name="Text 21"/>
          <p:cNvSpPr/>
          <p:nvPr/>
        </p:nvSpPr>
        <p:spPr>
          <a:xfrm>
            <a:off x="3543300" y="4259461"/>
            <a:ext cx="2438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289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</a:t>
            </a:r>
            <a:endParaRPr lang="en-US" sz="1200" dirty="0"/>
          </a:p>
        </p:txBody>
      </p:sp>
      <p:sp>
        <p:nvSpPr>
          <p:cNvPr id="51" name="Text 22"/>
          <p:cNvSpPr/>
          <p:nvPr/>
        </p:nvSpPr>
        <p:spPr>
          <a:xfrm>
            <a:off x="3543300" y="4488061"/>
            <a:ext cx="2926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Instant verification</a:t>
            </a:r>
            <a:endParaRPr lang="en-US" sz="1050" dirty="0"/>
          </a:p>
        </p:txBody>
      </p:sp>
      <p:sp>
        <p:nvSpPr>
          <p:cNvPr id="52" name="Text 23"/>
          <p:cNvSpPr/>
          <p:nvPr/>
        </p:nvSpPr>
        <p:spPr>
          <a:xfrm>
            <a:off x="6210300" y="4259461"/>
            <a:ext cx="2438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Moderate</a:t>
            </a:r>
            <a:endParaRPr lang="en-US" sz="1200" dirty="0"/>
          </a:p>
        </p:txBody>
      </p:sp>
      <p:sp>
        <p:nvSpPr>
          <p:cNvPr id="53" name="Text 24"/>
          <p:cNvSpPr/>
          <p:nvPr/>
        </p:nvSpPr>
        <p:spPr>
          <a:xfrm>
            <a:off x="6210300" y="4488061"/>
            <a:ext cx="2926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Manual review processes</a:t>
            </a:r>
            <a:endParaRPr lang="en-US" sz="1050" dirty="0"/>
          </a:p>
        </p:txBody>
      </p:sp>
      <p:sp>
        <p:nvSpPr>
          <p:cNvPr id="54" name="Text 25"/>
          <p:cNvSpPr/>
          <p:nvPr/>
        </p:nvSpPr>
        <p:spPr>
          <a:xfrm>
            <a:off x="8877300" y="4259461"/>
            <a:ext cx="2438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Moderate</a:t>
            </a:r>
            <a:endParaRPr lang="en-US" sz="1200" dirty="0"/>
          </a:p>
        </p:txBody>
      </p:sp>
      <p:sp>
        <p:nvSpPr>
          <p:cNvPr id="55" name="Text 26"/>
          <p:cNvSpPr/>
          <p:nvPr/>
        </p:nvSpPr>
        <p:spPr>
          <a:xfrm>
            <a:off x="8877300" y="4488061"/>
            <a:ext cx="2926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Setup time required</a:t>
            </a:r>
            <a:endParaRPr lang="en-US" sz="1050" dirty="0"/>
          </a:p>
        </p:txBody>
      </p:sp>
      <p:sp>
        <p:nvSpPr>
          <p:cNvPr id="56" name="Text 27"/>
          <p:cNvSpPr/>
          <p:nvPr/>
        </p:nvSpPr>
        <p:spPr>
          <a:xfrm>
            <a:off x="876300" y="4792861"/>
            <a:ext cx="2667000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Ease of Use</a:t>
            </a:r>
            <a:endParaRPr lang="en-US" sz="1200" dirty="0"/>
          </a:p>
        </p:txBody>
      </p:sp>
      <p:sp>
        <p:nvSpPr>
          <p:cNvPr id="57" name="Text 28"/>
          <p:cNvSpPr/>
          <p:nvPr/>
        </p:nvSpPr>
        <p:spPr>
          <a:xfrm>
            <a:off x="3543300" y="4907161"/>
            <a:ext cx="2438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289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Very High</a:t>
            </a:r>
            <a:endParaRPr lang="en-US" sz="1200" dirty="0"/>
          </a:p>
        </p:txBody>
      </p:sp>
      <p:sp>
        <p:nvSpPr>
          <p:cNvPr id="58" name="Text 29"/>
          <p:cNvSpPr/>
          <p:nvPr/>
        </p:nvSpPr>
        <p:spPr>
          <a:xfrm>
            <a:off x="3543300" y="5135761"/>
            <a:ext cx="2926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Web-based platform</a:t>
            </a:r>
            <a:endParaRPr lang="en-US" sz="1050" dirty="0"/>
          </a:p>
        </p:txBody>
      </p:sp>
      <p:sp>
        <p:nvSpPr>
          <p:cNvPr id="59" name="Text 30"/>
          <p:cNvSpPr/>
          <p:nvPr/>
        </p:nvSpPr>
        <p:spPr>
          <a:xfrm>
            <a:off x="6210300" y="4907161"/>
            <a:ext cx="2438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Moderate</a:t>
            </a:r>
            <a:endParaRPr lang="en-US" sz="1200" dirty="0"/>
          </a:p>
        </p:txBody>
      </p:sp>
      <p:sp>
        <p:nvSpPr>
          <p:cNvPr id="60" name="Text 31"/>
          <p:cNvSpPr/>
          <p:nvPr/>
        </p:nvSpPr>
        <p:spPr>
          <a:xfrm>
            <a:off x="6210300" y="5135761"/>
            <a:ext cx="2926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Requires expertise</a:t>
            </a:r>
            <a:endParaRPr lang="en-US" sz="1050" dirty="0"/>
          </a:p>
        </p:txBody>
      </p:sp>
      <p:sp>
        <p:nvSpPr>
          <p:cNvPr id="61" name="Text 32"/>
          <p:cNvSpPr/>
          <p:nvPr/>
        </p:nvSpPr>
        <p:spPr>
          <a:xfrm>
            <a:off x="8877300" y="4907161"/>
            <a:ext cx="2438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</a:t>
            </a:r>
            <a:endParaRPr lang="en-US" sz="1200" dirty="0"/>
          </a:p>
        </p:txBody>
      </p:sp>
      <p:sp>
        <p:nvSpPr>
          <p:cNvPr id="62" name="Text 33"/>
          <p:cNvSpPr/>
          <p:nvPr/>
        </p:nvSpPr>
        <p:spPr>
          <a:xfrm>
            <a:off x="8877300" y="5135761"/>
            <a:ext cx="2926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Technical expertise required</a:t>
            </a:r>
            <a:endParaRPr lang="en-US" sz="1050" dirty="0"/>
          </a:p>
        </p:txBody>
      </p:sp>
      <p:sp>
        <p:nvSpPr>
          <p:cNvPr id="63" name="Text 34"/>
          <p:cNvSpPr/>
          <p:nvPr/>
        </p:nvSpPr>
        <p:spPr>
          <a:xfrm>
            <a:off x="-579120" y="6057900"/>
            <a:ext cx="13350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Lucid's unique approach </a:t>
            </a:r>
            <a:r>
              <a:rPr lang="en-US" sz="15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addresses the critical challenge of rapidly evolving misinformation.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874341"/>
            <a:ext cx="533400" cy="533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7838" y="2007691"/>
            <a:ext cx="238125" cy="266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2407741"/>
            <a:ext cx="14097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300" y="1874341"/>
            <a:ext cx="533400" cy="533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0" y="2007691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5700" y="2407741"/>
            <a:ext cx="1409700" cy="3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0" y="1874341"/>
            <a:ext cx="533400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39375" y="2007691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131641"/>
            <a:ext cx="3606850" cy="1600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665041"/>
            <a:ext cx="1905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4160341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92650" y="3131641"/>
            <a:ext cx="3606850" cy="1600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45050" y="3665041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45050" y="4160341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28099" y="3131641"/>
            <a:ext cx="3606850" cy="1600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0499" y="3665041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80499" y="4160341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09800" y="4884241"/>
            <a:ext cx="2438400" cy="914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76800" y="4884241"/>
            <a:ext cx="2438400" cy="914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43800" y="4884241"/>
            <a:ext cx="2438400" cy="9144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57200" y="457200"/>
            <a:ext cx="1353312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DBCA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Traction &amp; Go-to-Market Strategy</a:t>
            </a:r>
            <a:endParaRPr lang="en-US" sz="3600" dirty="0"/>
          </a:p>
        </p:txBody>
      </p:sp>
      <p:sp>
        <p:nvSpPr>
          <p:cNvPr id="24" name="Text 1"/>
          <p:cNvSpPr/>
          <p:nvPr/>
        </p:nvSpPr>
        <p:spPr>
          <a:xfrm>
            <a:off x="457200" y="1081980"/>
            <a:ext cx="8534400" cy="6399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DBCAA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three-phase rollout from academic soft launch to public release with measurable growth metrics.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1444228" y="2445841"/>
            <a:ext cx="101441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 1</a:t>
            </a:r>
            <a:endParaRPr lang="en-US" sz="1500" dirty="0"/>
          </a:p>
        </p:txBody>
      </p:sp>
      <p:sp>
        <p:nvSpPr>
          <p:cNvPr id="26" name="Text 3"/>
          <p:cNvSpPr/>
          <p:nvPr/>
        </p:nvSpPr>
        <p:spPr>
          <a:xfrm>
            <a:off x="1359991" y="2712541"/>
            <a:ext cx="12164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B289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Soft Launch</a:t>
            </a:r>
            <a:endParaRPr lang="en-US" sz="1350" dirty="0"/>
          </a:p>
        </p:txBody>
      </p:sp>
      <p:sp>
        <p:nvSpPr>
          <p:cNvPr id="27" name="Text 4"/>
          <p:cNvSpPr/>
          <p:nvPr/>
        </p:nvSpPr>
        <p:spPr>
          <a:xfrm>
            <a:off x="5673328" y="2445841"/>
            <a:ext cx="101441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 2</a:t>
            </a:r>
            <a:endParaRPr lang="en-US" sz="1500" dirty="0"/>
          </a:p>
        </p:txBody>
      </p:sp>
      <p:sp>
        <p:nvSpPr>
          <p:cNvPr id="28" name="Text 5"/>
          <p:cNvSpPr/>
          <p:nvPr/>
        </p:nvSpPr>
        <p:spPr>
          <a:xfrm>
            <a:off x="5504557" y="2712541"/>
            <a:ext cx="141928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B289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Public Launch</a:t>
            </a:r>
            <a:endParaRPr lang="en-US" sz="1350" dirty="0"/>
          </a:p>
        </p:txBody>
      </p:sp>
      <p:sp>
        <p:nvSpPr>
          <p:cNvPr id="29" name="Text 6"/>
          <p:cNvSpPr/>
          <p:nvPr/>
        </p:nvSpPr>
        <p:spPr>
          <a:xfrm>
            <a:off x="9902428" y="2445841"/>
            <a:ext cx="101441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 3</a:t>
            </a:r>
            <a:endParaRPr lang="en-US" sz="1500" dirty="0"/>
          </a:p>
        </p:txBody>
      </p:sp>
      <p:sp>
        <p:nvSpPr>
          <p:cNvPr id="30" name="Text 7"/>
          <p:cNvSpPr/>
          <p:nvPr/>
        </p:nvSpPr>
        <p:spPr>
          <a:xfrm>
            <a:off x="9883527" y="2712541"/>
            <a:ext cx="10595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B289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Expansion</a:t>
            </a:r>
            <a:endParaRPr lang="en-US" sz="1350" dirty="0"/>
          </a:p>
        </p:txBody>
      </p:sp>
      <p:sp>
        <p:nvSpPr>
          <p:cNvPr id="31" name="Text 8"/>
          <p:cNvSpPr/>
          <p:nvPr/>
        </p:nvSpPr>
        <p:spPr>
          <a:xfrm>
            <a:off x="609600" y="3284041"/>
            <a:ext cx="3962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Academic Soft Launch</a:t>
            </a:r>
            <a:endParaRPr lang="en-US" sz="1500" dirty="0"/>
          </a:p>
        </p:txBody>
      </p:sp>
      <p:sp>
        <p:nvSpPr>
          <p:cNvPr id="32" name="Text 9"/>
          <p:cNvSpPr/>
          <p:nvPr/>
        </p:nvSpPr>
        <p:spPr>
          <a:xfrm>
            <a:off x="876300" y="3626941"/>
            <a:ext cx="30353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Target: Universities, cybersecurity clubs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838200" y="4122241"/>
            <a:ext cx="3073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Objective: Product validation, early user acquisition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4445050" y="3284041"/>
            <a:ext cx="3302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Public Launch</a:t>
            </a:r>
            <a:endParaRPr lang="en-US" sz="1500" dirty="0"/>
          </a:p>
        </p:txBody>
      </p:sp>
      <p:sp>
        <p:nvSpPr>
          <p:cNvPr id="35" name="Text 12"/>
          <p:cNvSpPr/>
          <p:nvPr/>
        </p:nvSpPr>
        <p:spPr>
          <a:xfrm>
            <a:off x="4673650" y="3626941"/>
            <a:ext cx="3073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Channels: Product Hunt, LinkedIn, professional communities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4673650" y="4122241"/>
            <a:ext cx="3073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Tactics: Demo videos, whitepaper, case studies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8280499" y="3284041"/>
            <a:ext cx="3962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Enterprise Expansion</a:t>
            </a:r>
            <a:endParaRPr lang="en-US" sz="1500" dirty="0"/>
          </a:p>
        </p:txBody>
      </p:sp>
      <p:sp>
        <p:nvSpPr>
          <p:cNvPr id="38" name="Text 15"/>
          <p:cNvSpPr/>
          <p:nvPr/>
        </p:nvSpPr>
        <p:spPr>
          <a:xfrm>
            <a:off x="8509099" y="3626941"/>
            <a:ext cx="3073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Product: Image &amp; video authenticity features</a:t>
            </a:r>
            <a:endParaRPr lang="en-US" sz="1200" dirty="0"/>
          </a:p>
        </p:txBody>
      </p:sp>
      <p:sp>
        <p:nvSpPr>
          <p:cNvPr id="39" name="Text 16"/>
          <p:cNvSpPr/>
          <p:nvPr/>
        </p:nvSpPr>
        <p:spPr>
          <a:xfrm>
            <a:off x="8547199" y="4122241"/>
            <a:ext cx="30353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Market: Newsrooms, content moderation platforms</a:t>
            </a:r>
            <a:endParaRPr lang="en-US" sz="1200" dirty="0"/>
          </a:p>
        </p:txBody>
      </p:sp>
      <p:sp>
        <p:nvSpPr>
          <p:cNvPr id="40" name="Text 17"/>
          <p:cNvSpPr/>
          <p:nvPr/>
        </p:nvSpPr>
        <p:spPr>
          <a:xfrm>
            <a:off x="2948880" y="4998541"/>
            <a:ext cx="115228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15-20%</a:t>
            </a:r>
            <a:endParaRPr lang="en-US" sz="1800" dirty="0"/>
          </a:p>
        </p:txBody>
      </p:sp>
      <p:sp>
        <p:nvSpPr>
          <p:cNvPr id="41" name="Text 18"/>
          <p:cNvSpPr/>
          <p:nvPr/>
        </p:nvSpPr>
        <p:spPr>
          <a:xfrm>
            <a:off x="2324100" y="5303341"/>
            <a:ext cx="2209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Accuracy improvement with user-trained models</a:t>
            </a:r>
            <a:endParaRPr lang="en-US" sz="1050" dirty="0"/>
          </a:p>
        </p:txBody>
      </p:sp>
      <p:sp>
        <p:nvSpPr>
          <p:cNvPr id="42" name="Text 19"/>
          <p:cNvSpPr/>
          <p:nvPr/>
        </p:nvSpPr>
        <p:spPr>
          <a:xfrm>
            <a:off x="5730329" y="4998541"/>
            <a:ext cx="87743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20-30</a:t>
            </a:r>
            <a:endParaRPr lang="en-US" sz="1800" dirty="0"/>
          </a:p>
        </p:txBody>
      </p:sp>
      <p:sp>
        <p:nvSpPr>
          <p:cNvPr id="43" name="Text 20"/>
          <p:cNvSpPr/>
          <p:nvPr/>
        </p:nvSpPr>
        <p:spPr>
          <a:xfrm>
            <a:off x="4991100" y="5303341"/>
            <a:ext cx="2209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Custom datasets uploaded in first six months</a:t>
            </a:r>
            <a:endParaRPr lang="en-US" sz="1050" dirty="0"/>
          </a:p>
        </p:txBody>
      </p:sp>
      <p:sp>
        <p:nvSpPr>
          <p:cNvPr id="44" name="Text 21"/>
          <p:cNvSpPr/>
          <p:nvPr/>
        </p:nvSpPr>
        <p:spPr>
          <a:xfrm>
            <a:off x="8317855" y="4998541"/>
            <a:ext cx="106834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50-100</a:t>
            </a:r>
            <a:endParaRPr lang="en-US" sz="1800" dirty="0"/>
          </a:p>
        </p:txBody>
      </p:sp>
      <p:sp>
        <p:nvSpPr>
          <p:cNvPr id="45" name="Text 22"/>
          <p:cNvSpPr/>
          <p:nvPr/>
        </p:nvSpPr>
        <p:spPr>
          <a:xfrm>
            <a:off x="7593047" y="5303341"/>
            <a:ext cx="233975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Beta users in first six months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69641"/>
            <a:ext cx="5486400" cy="12001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522041"/>
            <a:ext cx="457200" cy="45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138" y="2617291"/>
            <a:ext cx="238125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3322141"/>
            <a:ext cx="4572000" cy="95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3322141"/>
            <a:ext cx="1508671" cy="95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722191"/>
            <a:ext cx="5486400" cy="9715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874591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50" y="3969841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19200" y="4446091"/>
            <a:ext cx="4166592" cy="95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9200" y="4446091"/>
            <a:ext cx="1374874" cy="95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846141"/>
            <a:ext cx="5486400" cy="9715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4998541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950" y="5093791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19200" y="5570041"/>
            <a:ext cx="3812530" cy="952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19200" y="5570041"/>
            <a:ext cx="1258044" cy="95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0" y="1912441"/>
            <a:ext cx="5486400" cy="3154859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3569791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81775" y="3626941"/>
            <a:ext cx="17145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4217491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7963" y="4274641"/>
            <a:ext cx="21907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48400" y="5219700"/>
            <a:ext cx="5486400" cy="1181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86627" y="5505450"/>
            <a:ext cx="1895773" cy="609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877127" y="5734050"/>
            <a:ext cx="190500" cy="1524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57200" y="457200"/>
            <a:ext cx="1353312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DBCA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Ask: </a:t>
            </a:r>
            <a:r>
              <a:rPr lang="en-US" sz="3600" b="1" dirty="0">
                <a:solidFill>
                  <a:srgbClr val="B289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$2K </a:t>
            </a:r>
            <a:r>
              <a:rPr lang="en-US" sz="3600" b="1" dirty="0">
                <a:solidFill>
                  <a:srgbClr val="DBCA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 </a:t>
            </a:r>
            <a:r>
              <a:rPr lang="en-US" sz="3600" b="1">
                <a:solidFill>
                  <a:srgbClr val="DBCA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Series </a:t>
            </a:r>
            <a:r>
              <a:rPr lang="en-US" sz="3600" b="1" dirty="0">
                <a:solidFill>
                  <a:srgbClr val="DBCA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Funding</a:t>
            </a:r>
            <a:endParaRPr lang="en-US" sz="3600" dirty="0"/>
          </a:p>
        </p:txBody>
      </p:sp>
      <p:sp>
        <p:nvSpPr>
          <p:cNvPr id="27" name="Text 1"/>
          <p:cNvSpPr/>
          <p:nvPr/>
        </p:nvSpPr>
        <p:spPr>
          <a:xfrm>
            <a:off x="457200" y="1120080"/>
            <a:ext cx="8534400" cy="6399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DBCAA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Join our mission to become the global standard for adaptive content authenticity detection.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457200" y="1912441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Investment Allocation</a:t>
            </a:r>
            <a:endParaRPr lang="en-US" sz="1800" dirty="0"/>
          </a:p>
        </p:txBody>
      </p:sp>
      <p:sp>
        <p:nvSpPr>
          <p:cNvPr id="29" name="Text 3"/>
          <p:cNvSpPr/>
          <p:nvPr/>
        </p:nvSpPr>
        <p:spPr>
          <a:xfrm>
            <a:off x="1219200" y="2522041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Expand Engineering Team</a:t>
            </a:r>
            <a:endParaRPr lang="en-US" sz="1500" dirty="0"/>
          </a:p>
        </p:txBody>
      </p:sp>
      <p:sp>
        <p:nvSpPr>
          <p:cNvPr id="30" name="Text 4"/>
          <p:cNvSpPr/>
          <p:nvPr/>
        </p:nvSpPr>
        <p:spPr>
          <a:xfrm>
            <a:off x="1219200" y="2826841"/>
            <a:ext cx="4572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 features for image and video authenticity detection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1219200" y="3874591"/>
            <a:ext cx="499991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Scale Marketing &amp; Sales</a:t>
            </a:r>
            <a:endParaRPr lang="en-US" sz="1500" dirty="0"/>
          </a:p>
        </p:txBody>
      </p:sp>
      <p:sp>
        <p:nvSpPr>
          <p:cNvPr id="32" name="Text 6"/>
          <p:cNvSpPr/>
          <p:nvPr/>
        </p:nvSpPr>
        <p:spPr>
          <a:xfrm>
            <a:off x="1219200" y="4179391"/>
            <a:ext cx="499991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 journalism, academia, and enterprise segments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1219200" y="4998541"/>
            <a:ext cx="457503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Robust Infrastructure</a:t>
            </a:r>
            <a:endParaRPr lang="en-US" sz="1500" dirty="0"/>
          </a:p>
        </p:txBody>
      </p:sp>
      <p:sp>
        <p:nvSpPr>
          <p:cNvPr id="34" name="Text 8"/>
          <p:cNvSpPr/>
          <p:nvPr/>
        </p:nvSpPr>
        <p:spPr>
          <a:xfrm>
            <a:off x="1219200" y="5303341"/>
            <a:ext cx="45750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scalable infrastructure for custom AI models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6477000" y="2141041"/>
            <a:ext cx="5029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Vision</a:t>
            </a:r>
            <a:endParaRPr lang="en-US" sz="1800" dirty="0"/>
          </a:p>
        </p:txBody>
      </p:sp>
      <p:sp>
        <p:nvSpPr>
          <p:cNvPr id="36" name="Text 10"/>
          <p:cNvSpPr/>
          <p:nvPr/>
        </p:nvSpPr>
        <p:spPr>
          <a:xfrm>
            <a:off x="6477000" y="2560141"/>
            <a:ext cx="50292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 become the global standard for adaptive content authenticity detection, empowering trust in digital interactions.</a:t>
            </a:r>
            <a:endParaRPr lang="en-US" sz="1500" dirty="0"/>
          </a:p>
        </p:txBody>
      </p:sp>
      <p:sp>
        <p:nvSpPr>
          <p:cNvPr id="37" name="Text 11"/>
          <p:cNvSpPr/>
          <p:nvPr/>
        </p:nvSpPr>
        <p:spPr>
          <a:xfrm>
            <a:off x="6972300" y="3512641"/>
            <a:ext cx="22924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Opportunity</a:t>
            </a:r>
            <a:endParaRPr lang="en-US" sz="1350" dirty="0"/>
          </a:p>
        </p:txBody>
      </p:sp>
      <p:sp>
        <p:nvSpPr>
          <p:cNvPr id="38" name="Text 12"/>
          <p:cNvSpPr/>
          <p:nvPr/>
        </p:nvSpPr>
        <p:spPr>
          <a:xfrm>
            <a:off x="6972300" y="3779341"/>
            <a:ext cx="22924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$10.4B by 2033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6972300" y="4160341"/>
            <a:ext cx="27799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 Users</a:t>
            </a:r>
            <a:endParaRPr lang="en-US" sz="1350" dirty="0"/>
          </a:p>
        </p:txBody>
      </p:sp>
      <p:sp>
        <p:nvSpPr>
          <p:cNvPr id="40" name="Text 14"/>
          <p:cNvSpPr/>
          <p:nvPr/>
        </p:nvSpPr>
        <p:spPr>
          <a:xfrm>
            <a:off x="6972300" y="4427041"/>
            <a:ext cx="33359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Journalists, Researchers, Enterprises</a:t>
            </a:r>
            <a:endParaRPr lang="en-US" sz="1200" dirty="0"/>
          </a:p>
        </p:txBody>
      </p:sp>
      <p:sp>
        <p:nvSpPr>
          <p:cNvPr id="41" name="Text 15"/>
          <p:cNvSpPr/>
          <p:nvPr/>
        </p:nvSpPr>
        <p:spPr>
          <a:xfrm>
            <a:off x="6400800" y="5372100"/>
            <a:ext cx="394299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Ready to join us?</a:t>
            </a:r>
            <a:endParaRPr lang="en-US" sz="1800" dirty="0"/>
          </a:p>
        </p:txBody>
      </p:sp>
      <p:sp>
        <p:nvSpPr>
          <p:cNvPr id="42" name="Text 16"/>
          <p:cNvSpPr/>
          <p:nvPr/>
        </p:nvSpPr>
        <p:spPr>
          <a:xfrm>
            <a:off x="6400800" y="5715000"/>
            <a:ext cx="328582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CAA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Let's discuss content authenticity solutions</a:t>
            </a:r>
            <a:endParaRPr lang="en-US" sz="1350" dirty="0"/>
          </a:p>
        </p:txBody>
      </p:sp>
      <p:sp>
        <p:nvSpPr>
          <p:cNvPr id="43" name="Text 17"/>
          <p:cNvSpPr/>
          <p:nvPr/>
        </p:nvSpPr>
        <p:spPr>
          <a:xfrm>
            <a:off x="10143827" y="5581650"/>
            <a:ext cx="124807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62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Schedule a Demo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735</Words>
  <Application>Microsoft Office PowerPoint</Application>
  <PresentationFormat>Grand écran</PresentationFormat>
  <Paragraphs>154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Montserrat</vt:lpstr>
      <vt:lpstr>Open Sans</vt:lpstr>
      <vt:lpstr>ui-sans-serif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sghaier</cp:lastModifiedBy>
  <cp:revision>3</cp:revision>
  <dcterms:created xsi:type="dcterms:W3CDTF">2025-11-23T06:43:47Z</dcterms:created>
  <dcterms:modified xsi:type="dcterms:W3CDTF">2025-11-23T06:49:07Z</dcterms:modified>
</cp:coreProperties>
</file>